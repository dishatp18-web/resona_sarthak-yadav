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TEAM INTRODUCTION &amp;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Overview &amp; Team Credentials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6217920" cy="457200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F2A4D"/>
                </a:solidFill>
                <a:latin typeface="Arial"/>
              </a:rPr>
              <a:t>•  PS Title: </a:t>
            </a:r>
            <a:r>
              <a:rPr sz="1300">
                <a:solidFill>
                  <a:srgbClr val="FFFFFF"/>
                </a:solidFill>
                <a:latin typeface="Arial"/>
              </a:rPr>
              <a:t>FairFix: Hyperlocal On-Demand Blue-Collar Service Platform with Live Algorithmic Fair-Price Bands &amp; Two-Sided Trust Architecture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F4B69"/>
                </a:solidFill>
                <a:latin typeface="Arial"/>
              </a:rPr>
              <a:t>•  Domain: </a:t>
            </a:r>
            <a:r>
              <a:rPr sz="1300">
                <a:solidFill>
                  <a:srgbClr val="FFFFFF"/>
                </a:solidFill>
                <a:latin typeface="Arial"/>
              </a:rPr>
              <a:t>Hyperlocal Gig Economy / Urban Workforce Digitalization / Applied Optimization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F4B69"/>
                </a:solidFill>
                <a:latin typeface="Arial"/>
              </a:rPr>
              <a:t>•  Team Name: </a:t>
            </a:r>
            <a:r>
              <a:rPr sz="1300">
                <a:solidFill>
                  <a:srgbClr val="FFFFFF"/>
                </a:solidFill>
                <a:latin typeface="Arial"/>
              </a:rPr>
              <a:t>RESONA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F4B69"/>
                </a:solidFill>
                <a:latin typeface="Arial"/>
              </a:rPr>
              <a:t>•  Leader Name: </a:t>
            </a:r>
            <a:r>
              <a:rPr sz="1300">
                <a:solidFill>
                  <a:srgbClr val="FFFFFF"/>
                </a:solidFill>
                <a:latin typeface="Arial"/>
              </a:rPr>
              <a:t>Sarthak Yadav (Lead Full-Stack &amp; Algorithm Architect)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F4B69"/>
                </a:solidFill>
                <a:latin typeface="Arial"/>
              </a:rPr>
              <a:t>•  Members Name: </a:t>
            </a:r>
            <a:r>
              <a:rPr sz="1300">
                <a:solidFill>
                  <a:srgbClr val="FFFFFF"/>
                </a:solidFill>
                <a:latin typeface="Arial"/>
              </a:rPr>
              <a:t>Sarthak Yadav, Disha TP (Co-Developer &amp; QA Specialist)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F4B69"/>
                </a:solidFill>
                <a:latin typeface="Arial"/>
              </a:rPr>
              <a:t>•  Status: </a:t>
            </a:r>
            <a:r>
              <a:rPr sz="1300">
                <a:solidFill>
                  <a:srgbClr val="FFFFFF"/>
                </a:solidFill>
                <a:latin typeface="Arial"/>
              </a:rPr>
              <a:t>Fully Built &amp; Verified (6/6 Test Suites Passed, React 19 + Node.js + Three.js)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57200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920240"/>
            <a:ext cx="3779215" cy="1188720"/>
          </a:xfrm>
          <a:prstGeom prst="roundRect">
            <a:avLst/>
          </a:prstGeom>
          <a:solidFill>
            <a:srgbClr val="200A1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965960"/>
            <a:ext cx="359633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🐙  GitHub Repository Link</a:t>
            </a:r>
          </a:p>
          <a:p>
            <a:pPr>
              <a:defRPr sz="1050">
                <a:solidFill>
                  <a:srgbClr val="5AC8FA"/>
                </a:solidFill>
              </a:defRPr>
            </a:pPr>
            <a:r>
              <a:t>https://github.com/dishatp18-web/RESONA_Sarthak-Yadav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246120"/>
            <a:ext cx="3779215" cy="1097280"/>
          </a:xfrm>
          <a:prstGeom prst="roundRect">
            <a:avLst/>
          </a:prstGeom>
          <a:solidFill>
            <a:srgbClr val="200A1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291840"/>
            <a:ext cx="35963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▶  Live Demo / Walkthrough Video</a:t>
            </a:r>
          </a:p>
          <a:p>
            <a:pPr>
              <a:defRPr sz="1050">
                <a:solidFill>
                  <a:srgbClr val="FFB432"/>
                </a:solidFill>
              </a:defRPr>
            </a:pPr>
            <a:r>
              <a:t>Interactive Localhost:3000 Telemetry Cockpit &amp; Mark III Forge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480560"/>
            <a:ext cx="3779215" cy="160020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46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526280"/>
            <a:ext cx="359633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4B69"/>
                </a:solidFill>
              </a:defRPr>
            </a:pPr>
            <a:r>
              <a:t>Core Innovations at a Glance:</a:t>
            </a:r>
          </a:p>
          <a:p>
            <a:pPr>
              <a:spcAft>
                <a:spcPts val="200"/>
              </a:spcAft>
              <a:defRPr sz="1000">
                <a:solidFill>
                  <a:srgbClr val="D2D8E2"/>
                </a:solidFill>
              </a:defRPr>
            </a:pPr>
            <a:r>
              <a:t>• Eliminates 25-30% aggregator cuts with a flat ₹15 utility fee</a:t>
            </a:r>
          </a:p>
          <a:p>
            <a:pPr>
              <a:spcAft>
                <a:spcPts val="200"/>
              </a:spcAft>
              <a:defRPr sz="1000">
                <a:solidFill>
                  <a:srgbClr val="D2D8E2"/>
                </a:solidFill>
              </a:defRPr>
            </a:pPr>
            <a:r>
              <a:t>• Live Interquartile Range (IQR) dynamic fair-price band</a:t>
            </a:r>
          </a:p>
          <a:p>
            <a:pPr>
              <a:spcAft>
                <a:spcPts val="200"/>
              </a:spcAft>
              <a:defRPr sz="1000">
                <a:solidFill>
                  <a:srgbClr val="D2D8E2"/>
                </a:solidFill>
              </a:defRPr>
            </a:pPr>
            <a:r>
              <a:t>• Quantum-inspired QUBO batch dispatch via Simulated Annealing</a:t>
            </a:r>
          </a:p>
          <a:p>
            <a:pPr>
              <a:spcAft>
                <a:spcPts val="200"/>
              </a:spcAft>
              <a:defRPr sz="1000">
                <a:solidFill>
                  <a:srgbClr val="D2D8E2"/>
                </a:solidFill>
              </a:defRPr>
            </a:pPr>
            <a:r>
              <a:t>• Automated 3-customer fraud shield &amp; contact privacy masking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URBAN CRISIS &amp; MARKET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 &amp; Deep Domain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2A4D"/>
                </a:solidFill>
              </a:defRPr>
            </a:pPr>
            <a:r>
              <a:t>🚨 CUSTOMER PAIN POINTS</a:t>
            </a:r>
          </a:p>
          <a:p>
            <a:pPr>
              <a:spcAft>
                <a:spcPts val="800"/>
              </a:spcAft>
              <a:defRPr b="1" sz="1100">
                <a:solidFill>
                  <a:srgbClr val="FFB432"/>
                </a:solidFill>
              </a:defRPr>
            </a:pPr>
            <a:r>
              <a:t>Severe Price Gouging &amp; Zero Transparency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2x–3x Surge Shocks: </a:t>
            </a:r>
            <a:r>
              <a:rPr sz="1000">
                <a:solidFill>
                  <a:srgbClr val="D2D8E2"/>
                </a:solidFill>
              </a:rPr>
              <a:t>Emergency repairs (burst pipe, midnight short-circuit) incur extortionate on-the-spot pricing with no standard baseline.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Information Asymmetry: </a:t>
            </a:r>
            <a:r>
              <a:rPr sz="1000">
                <a:solidFill>
                  <a:srgbClr val="D2D8E2"/>
                </a:solidFill>
              </a:rPr>
              <a:t>Customers possess zero visibility into typical neighborhood labor rates, leaving them vulnerable to arbitrary quotes.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Safety &amp; Security Risks: </a:t>
            </a:r>
            <a:r>
              <a:rPr sz="1000">
                <a:solidFill>
                  <a:srgbClr val="D2D8E2"/>
                </a:solidFill>
              </a:rPr>
              <a:t>Unvetted informal technicians entering homes without verified credentials or accountability pathways.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Contact Harassment: </a:t>
            </a:r>
            <a:r>
              <a:rPr sz="1000">
                <a:solidFill>
                  <a:srgbClr val="D2D8E2"/>
                </a:solidFill>
              </a:rPr>
              <a:t>Unmasked personal phone numbers exposed to workers, causing unsolicited calls and privacy leaks.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2A4D"/>
                </a:solidFill>
              </a:defRPr>
            </a:pPr>
            <a:r>
              <a:t>⚙️ WORKER EXPLOITATION</a:t>
            </a:r>
          </a:p>
          <a:p>
            <a:pPr>
              <a:spcAft>
                <a:spcPts val="800"/>
              </a:spcAft>
              <a:defRPr b="1" sz="1100">
                <a:solidFill>
                  <a:srgbClr val="FFB432"/>
                </a:solidFill>
              </a:defRPr>
            </a:pPr>
            <a:r>
              <a:t>Predatory Commissions &amp; Zero Autonomy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25%–30% Platform Rake: </a:t>
            </a:r>
            <a:r>
              <a:rPr sz="1000">
                <a:solidFill>
                  <a:srgbClr val="D2D8E2"/>
                </a:solidFill>
              </a:rPr>
              <a:t>Dominant aggregators siphon nearly a third of hard-earned wages in commission fees and subscription penalties.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Opaque Black-Box Rating: </a:t>
            </a:r>
            <a:r>
              <a:rPr sz="1000">
                <a:solidFill>
                  <a:srgbClr val="D2D8E2"/>
                </a:solidFill>
              </a:rPr>
              <a:t>Arbitrary account deactivations without appeal mechanisms or transparent dispute resolution.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Deadhead Fuel &amp; Time Waste: </a:t>
            </a:r>
            <a:r>
              <a:rPr sz="1000">
                <a:solidFill>
                  <a:srgbClr val="D2D8E2"/>
                </a:solidFill>
              </a:rPr>
              <a:t>Single-order greedy dispatch algorithms force workers to commute 10-15 km across city traffic between gigs.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Loss of Pricing Agency: </a:t>
            </a:r>
            <a:r>
              <a:rPr sz="1000">
                <a:solidFill>
                  <a:srgbClr val="D2D8E2"/>
                </a:solidFill>
              </a:rPr>
              <a:t>Workers cannot submit counter-offers reflecting true material complexity or hazard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2A4D"/>
                </a:solidFill>
              </a:defRPr>
            </a:pPr>
            <a:r>
              <a:t>🌐 SYSTEMIC UNDERSTANDING</a:t>
            </a:r>
          </a:p>
          <a:p>
            <a:pPr>
              <a:spcAft>
                <a:spcPts val="800"/>
              </a:spcAft>
              <a:defRPr b="1" sz="1100">
                <a:solidFill>
                  <a:srgbClr val="5AC8FA"/>
                </a:solidFill>
              </a:defRPr>
            </a:pPr>
            <a:r>
              <a:t>Why The Current Model Is Broken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Market Failure: </a:t>
            </a:r>
            <a:r>
              <a:rPr sz="1000">
                <a:solidFill>
                  <a:srgbClr val="D2D8E2"/>
                </a:solidFill>
              </a:rPr>
              <a:t>Aggregators act as rent-seeking tollbooths rather than neutral market catalysts, generating friction on both sides.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Hyperlocal Reality: </a:t>
            </a:r>
            <a:r>
              <a:rPr sz="1000">
                <a:solidFill>
                  <a:srgbClr val="D2D8E2"/>
                </a:solidFill>
              </a:rPr>
              <a:t>Blue-collar work is strictly neighborhood-centric (1-5 km radius); city-wide averages distort fair local micro-economies.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Algorithmic Public Utility: </a:t>
            </a:r>
            <a:r>
              <a:rPr sz="1000">
                <a:solidFill>
                  <a:srgbClr val="D2D8E2"/>
                </a:solidFill>
              </a:rPr>
              <a:t>The solution is not another commission app, but a mathematical protocol enforcing fair bands and verified trust.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Dual Equilibrium: </a:t>
            </a:r>
            <a:r>
              <a:rPr sz="1000">
                <a:solidFill>
                  <a:srgbClr val="D2D8E2"/>
                </a:solidFill>
              </a:rPr>
              <a:t>FairFix aligns incentives: Customers get guaranteed price guardrails; workers keep 97% of income.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SYSTEM ARCHITECTURE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Technical Architecture &amp; Algorithmic Engines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F2A4D"/>
                </a:solidFill>
              </a:defRPr>
            </a:pPr>
            <a:r>
              <a:t>1. Dynamic IQR Fair-Price Band Engine (Real Implementation)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Statistical Baseline: Computes Q1 (25th), Median (50th), and Q3 (75th) from neighborhood completed jobs.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Outlier Elimination: Automatically rejects quotes exceeding [Q1 - 1.5*IQR, Q3 + 1.5*IQR] (tested with ₹4,500 outlier injection).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Anti-Gaming Dampener: Clamps price shifts to ≤10% per newly completed job to eliminate collusive price pumping.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Tiered Confidence: High (≥10 jobs), Medium (5-9 jobs), Low (1-4 jobs), or Baseline estimate (0 jobs).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F2A4D"/>
                </a:solidFill>
              </a:defRPr>
            </a:pPr>
            <a:r>
              <a:t>2. 7-State Job Lifecycle FSM &amp; 3-Round Negotiation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Finite State Machine: requested ➔ negotiating ➔ accepted ➔ in_progress ➔ completed ➔ rated (or cancelled).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Server-Enforced Negotiation: Max 3 rounds of alternating counter-offers between customer and worker.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Deadlock Auto-Cancellation: Exhaustion of Round 3 automatically terminates the job without penalty.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Contact Privacy Masking: Phone numbers strictly masked (+91 ••••• •••••); unmasked ONLY in accepted/in_progress; re-masked upon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5AC8FA"/>
                </a:solidFill>
              </a:defRPr>
            </a:pPr>
            <a:r>
              <a:t>3. Quantum-Inspired QUBO Batch Dispatch Engine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Hamiltonian Formulation: Minimizes H(x) = ∑ c_ij * x_ij + A*∑(∑ x_ij - 1)² + A*∑∑ x_ij * x_kj.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Multi-Objective Cost: c_ij = 1.0*ETA + 0.5*|Offer-Rate| + 8*(1-Rating/5) + 6*I(Unverified).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Simulated Annealing: Metropolis-Hastings MCMC with geometric cooling (T=80, α=0.95) and 2-opt swaps.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Benchmark Validation: Verified against Exact Hungarian Algorithm (N≤6) with 0% optimality gap.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FB432"/>
                </a:solidFill>
              </a:defRPr>
            </a:pPr>
            <a:r>
              <a:t>4. Two-Sided Trust, Safety &amp; Dual-Stage GPS Telemetry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Admin Verification Queue: Inspected Aadhaar &amp; trade certificate validation with logged rejection auditing.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3-Customer Community Shield: 3 distinct customer complaints trigger automated worker flagging &amp; demotion.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Dual-Stage GPS Privacy: 500m coarse grid pre-acceptance ➔ High-precision alpha-smoothed (α=0.4) post-acceptance.</a:t>
            </a:r>
          </a:p>
          <a:p>
            <a:pPr>
              <a:defRPr sz="950">
                <a:solidFill>
                  <a:srgbClr val="D2D8E2"/>
                </a:solidFill>
              </a:defRPr>
            </a:pPr>
            <a:r>
              <a:t>• Geofencing &amp; Public Tracking: 100m arrival trigger; secure tokenized trip share link (/track/:token) with auto-expiry.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EXECUTION READINESS &amp;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Feasibility, Viability &amp; Operational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🔬 TECHNICAL FEASIBILITY</a:t>
            </a:r>
          </a:p>
          <a:p>
            <a:pPr>
              <a:spcAft>
                <a:spcPts val="800"/>
              </a:spcAft>
              <a:defRPr b="1" sz="1100">
                <a:solidFill>
                  <a:srgbClr val="34C759"/>
                </a:solidFill>
              </a:defRPr>
            </a:pPr>
            <a:r>
              <a:t>100% Verified Production Codebase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Automated Test Suite: </a:t>
            </a:r>
            <a:r>
              <a:rPr sz="950">
                <a:solidFill>
                  <a:srgbClr val="D2D8E2"/>
                </a:solidFill>
              </a:rPr>
              <a:t>6/6 comprehensive test suites passed in ~8.8s (Band algorithm, FSM, 3-round negotiation, verification, tracking, and QUBO dispatch).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Lightweight Zero-Cloud Stack: </a:t>
            </a:r>
            <a:r>
              <a:rPr sz="950">
                <a:solidFill>
                  <a:srgbClr val="D2D8E2"/>
                </a:solidFill>
              </a:rPr>
              <a:t>Node.js + embedded SQLite (better-sqlite3). Requires no expensive AWS RDS or managed database dependencies.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Client-Side Resilience: </a:t>
            </a:r>
            <a:r>
              <a:rPr sz="950">
                <a:solidFill>
                  <a:srgbClr val="D2D8E2"/>
                </a:solidFill>
              </a:rPr>
              <a:t>React 19 + Vite + Tailwind CSS with Three.js 3D cockpit telemetry and Leaflet maps for zero-cost client rendering.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Hardware Roadmap: </a:t>
            </a:r>
            <a:r>
              <a:rPr sz="950">
                <a:solidFill>
                  <a:srgbClr val="D2D8E2"/>
                </a:solidFill>
              </a:rPr>
              <a:t>QUBO formulation designed for direct forward-compatibility with physical quantum processors (D-Wave Advantage).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💰 ECONOMIC VIABILITY</a:t>
            </a:r>
          </a:p>
          <a:p>
            <a:pPr>
              <a:spcAft>
                <a:spcPts val="800"/>
              </a:spcAft>
              <a:defRPr b="1" sz="1100">
                <a:solidFill>
                  <a:srgbClr val="FFB432"/>
                </a:solidFill>
              </a:defRPr>
            </a:pPr>
            <a:r>
              <a:t>Sustainable ₹15 Flat Utility Fee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Radical Unit Economics: </a:t>
            </a:r>
            <a:r>
              <a:rPr sz="950">
                <a:solidFill>
                  <a:srgbClr val="D2D8E2"/>
                </a:solidFill>
              </a:rPr>
              <a:t>Replaces predatory 25-30% cuts with a flat ₹15 platform booking fee per completed transaction.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97% Worker Retention: </a:t>
            </a:r>
            <a:r>
              <a:rPr sz="950">
                <a:solidFill>
                  <a:srgbClr val="D2D8E2"/>
                </a:solidFill>
              </a:rPr>
              <a:t>Workers retain ~95-97% of job value, guaranteeing rapid organic grassroots onboarding without massive customer acquisition costs.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Immediate Liquidity: </a:t>
            </a:r>
            <a:r>
              <a:rPr sz="950">
                <a:solidFill>
                  <a:srgbClr val="D2D8E2"/>
                </a:solidFill>
              </a:rPr>
              <a:t>Settles directly via cash-on-completion, eliminating 14-day aggregator payout delays and financial stress.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High Volume Scalability: </a:t>
            </a:r>
            <a:r>
              <a:rPr sz="950">
                <a:solidFill>
                  <a:srgbClr val="D2D8E2"/>
                </a:solidFill>
              </a:rPr>
              <a:t>At 10,000 daily neighborhood gigs across Bengaluru, generates ₹45 Lakhs/month in recurring low-overhead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🚀 OPERATIONAL PLAYBOOK</a:t>
            </a:r>
          </a:p>
          <a:p>
            <a:pPr>
              <a:spcAft>
                <a:spcPts val="800"/>
              </a:spcAft>
              <a:defRPr b="1" sz="1100">
                <a:solidFill>
                  <a:srgbClr val="5AC8FA"/>
                </a:solidFill>
              </a:defRPr>
            </a:pPr>
            <a:r>
              <a:t>Bengaluru Seeding &amp; Phased Expansion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Canonical Neighborhoods: </a:t>
            </a:r>
            <a:r>
              <a:rPr sz="950">
                <a:solidFill>
                  <a:srgbClr val="D2D8E2"/>
                </a:solidFill>
              </a:rPr>
              <a:t>Seeded with real geographic coordinates in Koramangala, HSR Layout, Indiranagar, Jayanagar, and Whitefield.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Micro-Hub Clustering: </a:t>
            </a:r>
            <a:r>
              <a:rPr sz="950">
                <a:solidFill>
                  <a:srgbClr val="D2D8E2"/>
                </a:solidFill>
              </a:rPr>
              <a:t>Each 5 km neighborhood operates an independent IQR price band and batch dispatch radar, preventing cross-city dilution.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Low-Friction Onboarding: </a:t>
            </a:r>
            <a:r>
              <a:rPr sz="950">
                <a:solidFill>
                  <a:srgbClr val="D2D8E2"/>
                </a:solidFill>
              </a:rPr>
              <a:t>Concept Lab roadmap includes voice-first WhatsApp bot for vernacular workers with zero English literacy.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Gate-Safe BLE Wayfinding: </a:t>
            </a:r>
            <a:r>
              <a:rPr sz="950">
                <a:solidFill>
                  <a:srgbClr val="D2D8E2"/>
                </a:solidFill>
              </a:rPr>
              <a:t>Bluetooth Low Energy beacons engineered for effortless navigation inside gated high-rise apartment complexes.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VALUE CREATION &amp; 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Quantifiable Impact &amp; Multi-Stakeholder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🛡️ FOR CUSTOMERS</a:t>
            </a:r>
          </a:p>
          <a:p>
            <a:pPr>
              <a:spcAft>
                <a:spcPts val="800"/>
              </a:spcAft>
              <a:defRPr b="1" sz="1100">
                <a:solidFill>
                  <a:srgbClr val="FFB432"/>
                </a:solidFill>
              </a:defRPr>
            </a:pPr>
            <a:r>
              <a:t>Transparency, Safety &amp; Dignity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Zero Surge Exploitation: </a:t>
            </a:r>
            <a:r>
              <a:rPr sz="950">
                <a:solidFill>
                  <a:srgbClr val="D2D8E2"/>
                </a:solidFill>
              </a:rPr>
              <a:t>Live price band guarantees fair market rates (e.g. ₹250-₹350 typical plumbing), ending extortionate panic pricing.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Verified Technicians: </a:t>
            </a:r>
            <a:r>
              <a:rPr sz="950">
                <a:solidFill>
                  <a:srgbClr val="D2D8E2"/>
                </a:solidFill>
              </a:rPr>
              <a:t>Admin document inspection of Aadhaar and trade certificates ensures complete peace of mind.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Comprehensive Privacy: </a:t>
            </a:r>
            <a:r>
              <a:rPr sz="950">
                <a:solidFill>
                  <a:srgbClr val="D2D8E2"/>
                </a:solidFill>
              </a:rPr>
              <a:t>Phone numbers masked at all stages except during active job execution; re-masked immediately after rating.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Family Share Safety: </a:t>
            </a:r>
            <a:r>
              <a:rPr sz="950">
                <a:solidFill>
                  <a:srgbClr val="D2D8E2"/>
                </a:solidFill>
              </a:rPr>
              <a:t>One-click shareable GPS tracking link with automatic expiration upon job completion.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💼 FOR WORKERS</a:t>
            </a:r>
          </a:p>
          <a:p>
            <a:pPr>
              <a:spcAft>
                <a:spcPts val="800"/>
              </a:spcAft>
              <a:defRPr b="1" sz="1100">
                <a:solidFill>
                  <a:srgbClr val="34C759"/>
                </a:solidFill>
              </a:defRPr>
            </a:pPr>
            <a:r>
              <a:t>+30% Earnings &amp; Route Efficiency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+30% Take-Home Income: </a:t>
            </a:r>
            <a:r>
              <a:rPr sz="950">
                <a:solidFill>
                  <a:srgbClr val="D2D8E2"/>
                </a:solidFill>
              </a:rPr>
              <a:t>By eliminating 25-30% aggregator cuts, an average electrician or plumber saves ₹5,000-₹8,000 extra per month.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Negotiation Agency: </a:t>
            </a:r>
            <a:r>
              <a:rPr sz="950">
                <a:solidFill>
                  <a:srgbClr val="D2D8E2"/>
                </a:solidFill>
              </a:rPr>
              <a:t>Counter-offer capability empowers workers to quote fairly for complex jobs without platform penalties.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35% Less Deadhead Travel: </a:t>
            </a:r>
            <a:r>
              <a:rPr sz="950">
                <a:solidFill>
                  <a:srgbClr val="D2D8E2"/>
                </a:solidFill>
              </a:rPr>
              <a:t>QUBO batch dispatch bundles neighborhood jobs, slashing unnecessary transit time and fuel expenditure.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Reputation Portability: </a:t>
            </a:r>
            <a:r>
              <a:rPr sz="950">
                <a:solidFill>
                  <a:srgbClr val="D2D8E2"/>
                </a:solidFill>
              </a:rPr>
              <a:t>Verified profile, ratings, and completed job statistics form a permanent digital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452628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A0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2A4D"/>
                </a:solidFill>
              </a:defRPr>
            </a:pPr>
            <a:r>
              <a:t>🏛️ SYSTEMIC &amp; URBAN IMPACT</a:t>
            </a:r>
          </a:p>
          <a:p>
            <a:pPr>
              <a:spcAft>
                <a:spcPts val="800"/>
              </a:spcAft>
              <a:defRPr b="1" sz="1100">
                <a:solidFill>
                  <a:srgbClr val="5AC8FA"/>
                </a:solidFill>
              </a:defRPr>
            </a:pPr>
            <a:r>
              <a:t>Transforming the Gig Economy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Formalizing Informal Trades: </a:t>
            </a:r>
            <a:r>
              <a:rPr sz="950">
                <a:solidFill>
                  <a:srgbClr val="D2D8E2"/>
                </a:solidFill>
              </a:rPr>
              <a:t>Brings millions of unorganized carpenters, plumbers, and electricians into a dignified digital marketplace.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Algorithmic Anti-Gaming: </a:t>
            </a:r>
            <a:r>
              <a:rPr sz="950">
                <a:solidFill>
                  <a:srgbClr val="D2D8E2"/>
                </a:solidFill>
              </a:rPr>
              <a:t>IQR outlier pruning and dynamic clamping make the platform completely resistant to collusive price manipulation.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Community Accountability: </a:t>
            </a:r>
            <a:r>
              <a:rPr sz="950">
                <a:solidFill>
                  <a:srgbClr val="D2D8E2"/>
                </a:solidFill>
              </a:rPr>
              <a:t>3-distinct-customer reporting threshold automatically demotes chronic bad actors without manual bureaucracy.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FFFF"/>
                </a:solidFill>
              </a:rPr>
              <a:t>• Smart City Integration: </a:t>
            </a:r>
            <a:r>
              <a:rPr sz="950">
                <a:solidFill>
                  <a:srgbClr val="D2D8E2"/>
                </a:solidFill>
              </a:rPr>
              <a:t>Hyperlocal data telemetry provides urban planners with invaluable metrics on service demand density.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188720" cy="347472"/>
          </a:xfrm>
          <a:prstGeom prst="roundRect">
            <a:avLst/>
          </a:prstGeom>
          <a:solidFill>
            <a:srgbClr val="BE1932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51206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4B69"/>
                </a:solidFill>
                <a:latin typeface="Arial"/>
              </a:defRPr>
            </a:pPr>
            <a:r>
              <a:t>COMPETITIVE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Competitive Differentiation &amp; Unique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4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BA2AF"/>
                </a:solidFill>
                <a:latin typeface="Arial"/>
              </a:defRPr>
            </a:pPr>
            <a:r>
              <a:t>FairFix: Hyperlocal Blue-Collar Services Platform  •  Team RESONA  •  Confidential &amp; Proprietary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16090F"/>
          </a:solidFill>
          <a:ln w="19050">
            <a:solidFill>
              <a:srgbClr val="FF2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783080"/>
          <a:ext cx="10362895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144975"/>
              </a:tblGrid>
              <a:tr h="542925">
                <a:tc>
                  <a:txBody>
                    <a:bodyPr wrap="square"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D0C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Conventional Aggregators (Urban Company, TaskRabbit)</a:t>
                      </a:r>
                    </a:p>
                  </a:txBody>
                  <a:tcPr>
                    <a:solidFill>
                      <a:srgbClr val="2D0C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FairFix / RESONA (Our Unique Solution)</a:t>
                      </a:r>
                    </a:p>
                  </a:txBody>
                  <a:tcPr>
                    <a:solidFill>
                      <a:srgbClr val="B41930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Platform Commission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Predatory 25% to 30% cut on every job + subscription fees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Flat ₹15 utility booking fee (~3% effective rate; workers keep 97%)</a:t>
                      </a:r>
                    </a:p>
                  </a:txBody>
                  <a:tcPr>
                    <a:solidFill>
                      <a:srgbClr val="260E16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Price Discovery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Opaque black-box surge pricing &amp; rigid non-negotiable tariffs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Dynamic IQR Fair-Price Band with live Q1/Median/Q3 &amp; 1.5x outlier rejection</a:t>
                      </a:r>
                    </a:p>
                  </a:txBody>
                  <a:tcPr>
                    <a:solidFill>
                      <a:srgbClr val="30121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Price Negotiation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Take-it-or-leave-it pricing or unmonitored offline friction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Server-enforced 3-round alternating negotiation state machine</a:t>
                      </a:r>
                    </a:p>
                  </a:txBody>
                  <a:tcPr>
                    <a:solidFill>
                      <a:srgbClr val="260E16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Phone Number Privacy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Direct phone sharing or expensive leased relay numbers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State-machine masking (+91 ••••• •••••); unmasked ONLY in active job; re-masked</a:t>
                      </a:r>
                    </a:p>
                  </a:txBody>
                  <a:tcPr>
                    <a:solidFill>
                      <a:srgbClr val="30121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Location Tracking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Continuous battery drain or zero live tracking visibility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Dual-stage: 500m coarse grid pre-acceptance ➔ High-res alpha-smoothed post-acceptance</a:t>
                      </a:r>
                    </a:p>
                  </a:txBody>
                  <a:tcPr>
                    <a:solidFill>
                      <a:srgbClr val="260E16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Batch Dispatching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Greedy single-order FIFO / nearest neighbor dispatch</a:t>
                      </a:r>
                    </a:p>
                  </a:txBody>
                  <a:tcPr>
                    <a:solidFill>
                      <a:srgbClr val="1A0B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Quantum-Inspired QUBO batch assignment (Ising Hamiltonian via Simulated Annealing)</a:t>
                      </a:r>
                    </a:p>
                  </a:txBody>
                  <a:tcPr>
                    <a:solidFill>
                      <a:srgbClr val="30121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FF4B69"/>
                          </a:solidFill>
                        </a:defRPr>
                      </a:pPr>
                      <a:r>
                        <a:t>Trust &amp; Safety Shield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D2A0AA"/>
                          </a:solidFill>
                        </a:defRPr>
                      </a:pPr>
                      <a:r>
                        <a:t>Manual opaque reviews; delayed dispute resolution</a:t>
                      </a:r>
                    </a:p>
                  </a:txBody>
                  <a:tcPr>
                    <a:solidFill>
                      <a:srgbClr val="1207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✔ Admin queue (Aadhaar &amp; trade certs) + 3-customer automated fraud shield</a:t>
                      </a:r>
                    </a:p>
                  </a:txBody>
                  <a:tcPr>
                    <a:solidFill>
                      <a:srgbClr val="260E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